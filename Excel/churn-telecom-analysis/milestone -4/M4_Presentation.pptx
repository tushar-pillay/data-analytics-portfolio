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bin" panose="020B0604020202020204" charset="0"/>
      <p:regular r:id="rId13"/>
    </p:embeddedFont>
    <p:embeddedFont>
      <p:font typeface="Unbounde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4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61605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Telecom Customer Churn Prediction &amp; Retention Strategy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83262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Data-Driven Product Analytics &amp; AI-Based Risk Scoring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48485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Presented by: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Tushar Pillay</a:t>
            </a:r>
            <a:endParaRPr lang="en-US" sz="1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F5660E-684E-3FDB-7252-2F2D21647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027" y="684609"/>
            <a:ext cx="2102644" cy="411718"/>
          </a:xfrm>
          <a:prstGeom prst="roundRect">
            <a:avLst>
              <a:gd name="adj" fmla="val 6530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8329" y="751761"/>
            <a:ext cx="1834039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BUSINESS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4027" y="1180148"/>
            <a:ext cx="11660267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Addressing Critical Churn Challenges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784027" y="2153364"/>
            <a:ext cx="13062347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current churn rate significantly impacts revenue and growth, demanding a strategic, proactive approach.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84027" y="3072170"/>
            <a:ext cx="6426398" cy="1963579"/>
          </a:xfrm>
          <a:prstGeom prst="roundRect">
            <a:avLst>
              <a:gd name="adj" fmla="val 7451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84027" y="3041690"/>
            <a:ext cx="6426398" cy="121920"/>
          </a:xfrm>
          <a:prstGeom prst="roundRect">
            <a:avLst>
              <a:gd name="adj" fmla="val 27563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61172" y="2736175"/>
            <a:ext cx="671989" cy="671989"/>
          </a:xfrm>
          <a:prstGeom prst="roundRect">
            <a:avLst>
              <a:gd name="adj" fmla="val 13607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62745" y="2904173"/>
            <a:ext cx="268724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38463" y="3632240"/>
            <a:ext cx="2635568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High Churn Rate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038463" y="4087416"/>
            <a:ext cx="5917525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At </a:t>
            </a: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26.54%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our churn is 6% above the industry benchmark, leading to substantial customer attrition.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19975" y="3072170"/>
            <a:ext cx="6426398" cy="1963579"/>
          </a:xfrm>
          <a:prstGeom prst="roundRect">
            <a:avLst>
              <a:gd name="adj" fmla="val 7451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19975" y="3041690"/>
            <a:ext cx="6426398" cy="121920"/>
          </a:xfrm>
          <a:prstGeom prst="roundRect">
            <a:avLst>
              <a:gd name="adj" fmla="val 27563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297120" y="2736175"/>
            <a:ext cx="671989" cy="671989"/>
          </a:xfrm>
          <a:prstGeom prst="roundRect">
            <a:avLst>
              <a:gd name="adj" fmla="val 13607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498693" y="2904173"/>
            <a:ext cx="268724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674412" y="3632240"/>
            <a:ext cx="275451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Leakage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7674412" y="4087416"/>
            <a:ext cx="5917525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lost customer translates directly into foregone revenue, eroding profitability.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84027" y="5581293"/>
            <a:ext cx="6426398" cy="1963579"/>
          </a:xfrm>
          <a:prstGeom prst="roundRect">
            <a:avLst>
              <a:gd name="adj" fmla="val 7451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84027" y="5550813"/>
            <a:ext cx="6426398" cy="121920"/>
          </a:xfrm>
          <a:prstGeom prst="roundRect">
            <a:avLst>
              <a:gd name="adj" fmla="val 27563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61172" y="5245298"/>
            <a:ext cx="671989" cy="671989"/>
          </a:xfrm>
          <a:prstGeom prst="roundRect">
            <a:avLst>
              <a:gd name="adj" fmla="val 13607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62745" y="5413296"/>
            <a:ext cx="268724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38463" y="6141363"/>
            <a:ext cx="4061460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Soaring Acquisition Costs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1038463" y="6596539"/>
            <a:ext cx="5917525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Replacing churned customers is increasingly expensive, straining marketing budgets.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19975" y="5581293"/>
            <a:ext cx="6426398" cy="1963579"/>
          </a:xfrm>
          <a:prstGeom prst="roundRect">
            <a:avLst>
              <a:gd name="adj" fmla="val 7451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19975" y="5550813"/>
            <a:ext cx="6426398" cy="121920"/>
          </a:xfrm>
          <a:prstGeom prst="roundRect">
            <a:avLst>
              <a:gd name="adj" fmla="val 27563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297120" y="5245298"/>
            <a:ext cx="671989" cy="671989"/>
          </a:xfrm>
          <a:prstGeom prst="roundRect">
            <a:avLst>
              <a:gd name="adj" fmla="val 13607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498693" y="5413296"/>
            <a:ext cx="268724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674412" y="6141363"/>
            <a:ext cx="400419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Proactive Prevention Gap</a:t>
            </a:r>
            <a:endParaRPr lang="en-US" sz="2050" dirty="0"/>
          </a:p>
        </p:txBody>
      </p:sp>
      <p:sp>
        <p:nvSpPr>
          <p:cNvPr id="29" name="Text 27"/>
          <p:cNvSpPr/>
          <p:nvPr/>
        </p:nvSpPr>
        <p:spPr>
          <a:xfrm>
            <a:off x="7674412" y="6596539"/>
            <a:ext cx="5917525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Lack of early intervention leads to reactive, less effective retention efforts.</a:t>
            </a:r>
            <a:endParaRPr lang="en-US" sz="1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6589B3B-B0C7-7143-5084-1ECE9DC11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7820" y="502325"/>
            <a:ext cx="1243846" cy="300276"/>
          </a:xfrm>
          <a:prstGeom prst="roundRect">
            <a:avLst>
              <a:gd name="adj" fmla="val 7024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13190" y="554950"/>
            <a:ext cx="1033105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7820" y="854154"/>
            <a:ext cx="6524744" cy="51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Data-Driven Approach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1607820" y="1564719"/>
            <a:ext cx="11414760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Leveraging advanced analytics and AI for precise churn prediction and customer segmentation.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892" y="1953578"/>
            <a:ext cx="11016496" cy="53848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7469" y="3219190"/>
            <a:ext cx="399505" cy="3995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16575" y="3815773"/>
            <a:ext cx="2417006" cy="301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65290" y="4018200"/>
            <a:ext cx="399505" cy="3995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23214" y="2583014"/>
            <a:ext cx="2829887" cy="301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Predictive Modeling</a:t>
            </a:r>
            <a:endParaRPr lang="en-US" sz="1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1760" y="5696121"/>
            <a:ext cx="399505" cy="3995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496568" y="5117017"/>
            <a:ext cx="2417005" cy="30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Risk Scoring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54116" y="4942769"/>
            <a:ext cx="399505" cy="39950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545370" y="6372605"/>
            <a:ext cx="3270591" cy="301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Strategy Development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607820" y="7483554"/>
            <a:ext cx="11414760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Analysis of </a:t>
            </a:r>
            <a:r>
              <a:rPr lang="en-US" sz="13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7,043 customer records</a:t>
            </a: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informed a robust Logistic Regression model, establishing a comprehensive risk scoring system.</a:t>
            </a:r>
            <a:endParaRPr lang="en-US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DFAD36-70FE-E83C-E57C-ABD834541B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12814" y="1552337"/>
            <a:ext cx="926544" cy="241697"/>
          </a:xfrm>
          <a:prstGeom prst="roundRect">
            <a:avLst>
              <a:gd name="adj" fmla="val 7343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601516" y="1596628"/>
            <a:ext cx="749141" cy="153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12814" y="1830586"/>
            <a:ext cx="7863602" cy="43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Unpacking Churn Drivers &amp; Protectors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512814" y="2402562"/>
            <a:ext cx="9604772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analysis reveals critical factors influencing customer attrition and loyalty across different segments.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12814" y="2787968"/>
            <a:ext cx="3104555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Significant Churn Drivers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12814" y="3140273"/>
            <a:ext cx="3127177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Month-to-month contracts lead to lower commitment.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Electronic check payments correlate with higher churn risk.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Customers with less than 12 months tenure are highly vulnerable.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 monthly charges without perceived value increase dissatisfaction.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2814" y="4857988"/>
            <a:ext cx="2837378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Protective Factors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12814" y="5210294"/>
            <a:ext cx="3127177" cy="143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2-year contracts foster long-term loyalty.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 payments enhance customer stickiness.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Multiple service adoption deepens engagement.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Tenure beyond 24 months signals strong retention.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370" y="2953822"/>
            <a:ext cx="6116836" cy="34661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70B722-A5C7-96C3-9CD1-83A5DC69F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305" y="880943"/>
            <a:ext cx="1847612" cy="370284"/>
          </a:xfrm>
          <a:prstGeom prst="roundRect">
            <a:avLst>
              <a:gd name="adj" fmla="val 6697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47249" y="942856"/>
            <a:ext cx="159972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 INSIGHTS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3305" y="1322546"/>
            <a:ext cx="11416784" cy="60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Understanding Our Customer Personas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23305" y="2197894"/>
            <a:ext cx="1318379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Segmentation allows for targeted interventions, maximizing retention efforts.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5" y="2706529"/>
            <a:ext cx="3128605" cy="31286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3305" y="6013490"/>
            <a:ext cx="2884051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At-Risk Budget User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23305" y="6424374"/>
            <a:ext cx="3128605" cy="92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Sensitive to price, often on month-to-month contracts, high churn potential.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914" y="2706529"/>
            <a:ext cx="3128724" cy="312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74914" y="6013609"/>
            <a:ext cx="243125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Value Seeker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074914" y="6424493"/>
            <a:ext cx="3128724" cy="92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Seeks perceived value for cost; vulnerable if service engagement is low.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642" y="2706529"/>
            <a:ext cx="3128724" cy="31287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26642" y="6013609"/>
            <a:ext cx="2520553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 Family User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7426642" y="6424493"/>
            <a:ext cx="3128724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Multi-service subscriber, long tenure, low churn risk, high CLV.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8371" y="2706529"/>
            <a:ext cx="3128724" cy="31287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78371" y="6013609"/>
            <a:ext cx="243125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Other Segments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10778371" y="6424493"/>
            <a:ext cx="3128724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Varied profiles with distinct churn behaviors and CLV impacts.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4D4835-777C-468E-09C1-0C3CC1CFF3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406" y="1210985"/>
            <a:ext cx="1384935" cy="403027"/>
          </a:xfrm>
          <a:prstGeom prst="roundRect">
            <a:avLst>
              <a:gd name="adj" fmla="val 6562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3565" y="1277064"/>
            <a:ext cx="1120616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1406" y="1695093"/>
            <a:ext cx="12161877" cy="648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Driving Retention Through Engagement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771406" y="2647712"/>
            <a:ext cx="1308758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Factors that enhance customer stickiness and build lasting relationships.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06" y="3214568"/>
            <a:ext cx="661154" cy="661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1406" y="4129326"/>
            <a:ext cx="264104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Service Adoption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1406" y="4575096"/>
            <a:ext cx="6416993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Customers using multiple services show higher loyalty.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2002" y="3214568"/>
            <a:ext cx="661154" cy="6611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42002" y="4129326"/>
            <a:ext cx="3310295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Automatic Payments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442002" y="4575096"/>
            <a:ext cx="6416993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billing reduces friction and improves retention.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406" y="5319474"/>
            <a:ext cx="661154" cy="6611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1406" y="6234232"/>
            <a:ext cx="356139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Contract Commitment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71406" y="6680002"/>
            <a:ext cx="6416993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Longer contract terms significantly increase customer stickiness.</a:t>
            </a:r>
            <a:endParaRPr lang="en-US" sz="1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2002" y="5319474"/>
            <a:ext cx="661154" cy="6611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42002" y="6234232"/>
            <a:ext cx="2592943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Stickiness Score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7442002" y="6680002"/>
            <a:ext cx="6416993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Direct correlation between engagement and reduced churn risk.</a:t>
            </a: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E5C1E0-BB7A-9A07-90C4-57C5BD145A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4732" y="639723"/>
            <a:ext cx="1959531" cy="364450"/>
          </a:xfrm>
          <a:prstGeom prst="roundRect">
            <a:avLst>
              <a:gd name="adj" fmla="val 6724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7248" y="700921"/>
            <a:ext cx="171450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 PERFORMANCE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4732" y="1073825"/>
            <a:ext cx="12891135" cy="600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Predictive Model Results: Logistic Regression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14732" y="1935718"/>
            <a:ext cx="1320093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model accurately identifies at-risk customers, empowering proactive retention.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4732" y="3675698"/>
            <a:ext cx="4296489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Accuracy: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~78%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Recall: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~75%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AUC: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~0.82 (strong discriminative power)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4732" y="4879777"/>
            <a:ext cx="3519368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Risk Tier Distribution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14732" y="5414248"/>
            <a:ext cx="4296489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 Risk (70–100%):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≈ 1,400 customers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Medium Risk (40–70%):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≈ 2,100 customers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 Risk (0–40%):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≈ 3,500 customers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999" y="2630329"/>
            <a:ext cx="8406170" cy="4763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4D204B-34F6-242B-0D37-6A5CBB3EB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24124" y="1897380"/>
            <a:ext cx="887254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467713" y="1969175"/>
            <a:ext cx="60007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TOOLS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324124" y="244292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 Analytics &amp; Churn Monitoring Dashboard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324124" y="491394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insights for executive oversight and targeted interventions.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5566172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dashboard provides an integrated view of churn metrics, allowing for dynamic tracking and strategic decision-making.</a:t>
            </a:r>
            <a:endParaRPr lang="en-US" sz="1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D7802D-DDA1-F899-BFAD-8FC1A9C7F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443990"/>
            <a:ext cx="1167289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81313" y="1515785"/>
            <a:ext cx="88011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STRATEGY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989534"/>
            <a:ext cx="962120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Targeted Retention Strategy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0525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three-tiered approach to maximize retention effectiveness based on risk profiles.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704749"/>
            <a:ext cx="4318278" cy="9575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7039" y="49015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High Risk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7039" y="5397103"/>
            <a:ext cx="383964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Immediate, personalized interventions (e.g., dedicated support, special offers).</a:t>
            </a:r>
            <a:endParaRPr lang="en-US" sz="1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002" y="3704749"/>
            <a:ext cx="4318278" cy="9575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5317" y="49015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Medium Risk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95317" y="5397103"/>
            <a:ext cx="383964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Proactive engagement (e.g., value communication, service enhancements).</a:t>
            </a:r>
            <a:endParaRPr lang="en-US" sz="1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279" y="3704749"/>
            <a:ext cx="4318278" cy="9575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3595" y="49015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Low Risk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713595" y="5397103"/>
            <a:ext cx="383964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loyalty programs, upsell opportunities, and positive reinforcement.</a:t>
            </a:r>
            <a:endParaRPr lang="en-US" sz="1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058BC5-2CDA-2CEF-EA74-B077D45E3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231702"/>
            <a:ext cx="927259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81313" y="1303496"/>
            <a:ext cx="64008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IMPACT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777246"/>
            <a:ext cx="1091029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Projected Business Impact &amp; ROI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28402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Implementing this strategy will yield significant financial and operational benefits.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612118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18.5%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936784" y="47010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Reduced Churn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7724" y="5196602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From 26.5% to 18.5%, saving valuable customer relationships.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151233" y="3612118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₹4.13 Cr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4250293" y="47010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Saved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51233" y="5196602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Annually, from reduced customer attrition.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464743" y="3612118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₹4.63 Cr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7464743" y="4701064"/>
            <a:ext cx="301430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Annual Impact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64743" y="5548551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Including revenue saved and upsell opportunities.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0778252" y="3612118"/>
            <a:ext cx="301442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1,262%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10877312" y="47010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Projected ROI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778252" y="5196602"/>
            <a:ext cx="301442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significant return on a ₹45 Lakhs investment.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37724" y="66148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Beyond financial gains, we anticipate improved NPS, customer satisfaction, and increased referrals.</a:t>
            </a:r>
            <a:endParaRPr lang="en-US" sz="1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CDA473-D1F8-7D46-A00B-F9D335F4A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559" y="7537545"/>
            <a:ext cx="2886478" cy="628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634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Unbounded</vt:lpstr>
      <vt:lpstr>Cabin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Tushar Pillay</cp:lastModifiedBy>
  <cp:revision>2</cp:revision>
  <dcterms:created xsi:type="dcterms:W3CDTF">2026-02-14T17:29:35Z</dcterms:created>
  <dcterms:modified xsi:type="dcterms:W3CDTF">2026-02-16T11:17:46Z</dcterms:modified>
</cp:coreProperties>
</file>